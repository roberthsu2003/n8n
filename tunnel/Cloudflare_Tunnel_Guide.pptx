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Urbanist Medium"/>
      <p:regular r:id="rId14"/>
      <p:bold r:id="rId15"/>
      <p:italic r:id="rId16"/>
      <p:boldItalic r:id="rId17"/>
    </p:embeddedFon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Medium-bold.fntdata"/><Relationship Id="rId14" Type="http://schemas.openxmlformats.org/officeDocument/2006/relationships/font" Target="fonts/UrbanistMedium-regular.fntdata"/><Relationship Id="rId17" Type="http://schemas.openxmlformats.org/officeDocument/2006/relationships/font" Target="fonts/UrbanistMedium-boldItalic.fntdata"/><Relationship Id="rId16" Type="http://schemas.openxmlformats.org/officeDocument/2006/relationships/font" Target="fonts/Urbanist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.fntdata"/><Relationship Id="rId6" Type="http://schemas.openxmlformats.org/officeDocument/2006/relationships/slide" Target="slides/slide1.xml"/><Relationship Id="rId18" Type="http://schemas.openxmlformats.org/officeDocument/2006/relationships/font" Target="fonts/Urbanis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Relationship Id="rId7" Type="http://schemas.openxmlformats.org/officeDocument/2006/relationships/image" Target="../media/image23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image" Target="../media/image13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20.png"/><Relationship Id="rId11" Type="http://schemas.openxmlformats.org/officeDocument/2006/relationships/image" Target="../media/image14.png"/><Relationship Id="rId10" Type="http://schemas.openxmlformats.org/officeDocument/2006/relationships/image" Target="../media/image17.png"/><Relationship Id="rId9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5.png"/><Relationship Id="rId7" Type="http://schemas.openxmlformats.org/officeDocument/2006/relationships/image" Target="../media/image21.png"/><Relationship Id="rId8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21875" l="0" r="0" t="21875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10514" y="2303264"/>
            <a:ext cx="7770971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Cloudflare </a:t>
            </a:r>
            <a:r>
              <a:rPr b="1" i="0" lang="en-US" sz="5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Tunnel</a:t>
            </a: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Setup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395537" y="3248025"/>
            <a:ext cx="74009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建立無需公開 IP 的安全內網連接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網域設定與驗證完整指南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 rotWithShape="1">
          <a:blip r:embed="rId3">
            <a:alphaModFix/>
          </a:blip>
          <a:srcRect b="21875" l="0" r="0" t="21875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2225" y="1722090"/>
            <a:ext cx="55340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85750" y="2293887"/>
            <a:ext cx="55149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一種將內部資源安全連接到 Cloudflare 全球網路的工具，無需設置複雜的防火牆規則或公開 IP。</a:t>
            </a:r>
            <a:endParaRPr/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731615"/>
            <a:ext cx="55149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14375" y="3055887"/>
            <a:ext cx="5086350" cy="344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安全隱蔽：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透過輕量級守護程式 cloudflared 運行。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14375" y="3543448"/>
            <a:ext cx="5086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僅出站連線：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建立 Outbound-only 連線，不需開啟 Inbound ports。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14375" y="4356645"/>
            <a:ext cx="50863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雙向傳輸：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流量可經由 Cloudflare 網路雙向傳輸，無需暴露伺服器。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285750" y="285750"/>
            <a:ext cx="6590823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什麼是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Cloudflare Tunnel</a:t>
            </a: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0939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58154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39474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/>
          <p:cNvPicPr preferRelativeResize="0"/>
          <p:nvPr/>
        </p:nvPicPr>
        <p:blipFill rotWithShape="1">
          <a:blip r:embed="rId3">
            <a:alphaModFix/>
          </a:blip>
          <a:srcRect b="21875" l="0" r="0" t="21875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4987" y="2128837"/>
            <a:ext cx="8582025" cy="299650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2239327" y="2700337"/>
            <a:ext cx="7760970" cy="11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"只要 Nameserver 已經指向 Cloudflare，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這個網域就</a:t>
            </a:r>
            <a:r>
              <a:rPr b="1" i="1" lang="en-US" sz="31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不再由 GoDaddy 管理 DNS 了</a:t>
            </a:r>
            <a:r>
              <a:rPr b="0" i="1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2424112" y="4106167"/>
            <a:ext cx="7391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這意味著所有的 DNS 記錄新增與修改，都必須在 Cloudflare 上進行。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232409" y="285750"/>
            <a:ext cx="224028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核心概念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/>
          <p:cNvPicPr preferRelativeResize="0"/>
          <p:nvPr/>
        </p:nvPicPr>
        <p:blipFill rotWithShape="1">
          <a:blip r:embed="rId3">
            <a:alphaModFix/>
          </a:blip>
          <a:srcRect b="21875" l="0" r="0" t="21875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348680"/>
            <a:ext cx="5524500" cy="45568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348680"/>
            <a:ext cx="5524500" cy="455681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676275" y="173920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步驟 1: 購買網域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76275" y="2444055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前往 </a:t>
            </a:r>
            <a:r>
              <a:rPr b="1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godaddy.com</a:t>
            </a: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申請個人網址。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76275" y="2939355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通常第一年的費用非常便宜（約 NT:50 元以內），適合作為練習或個人專案使用。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772275" y="173920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步驟 2: 建立專案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772275" y="2444055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登入 </a:t>
            </a:r>
            <a:r>
              <a:rPr b="1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cloudflare.com</a:t>
            </a: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，以剛申請的個人網址建立新專案（Site）。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772275" y="2939355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進入 DNS 設定頁面，系統會提供 </a:t>
            </a:r>
            <a:r>
              <a:rPr b="1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 組 Cloudflare 名稱伺服器 (Nameservers)</a:t>
            </a: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，請將其記錄下來。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177730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177730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285750" y="285750"/>
            <a:ext cx="504063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申請流程：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第一階段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 rotWithShape="1">
          <a:blip r:embed="rId3">
            <a:alphaModFix/>
          </a:blip>
          <a:srcRect b="21875" l="0" r="0" t="21875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71500" y="762000"/>
            <a:ext cx="52006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申請流程：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關鍵轉移</a:t>
            </a:r>
            <a:endParaRPr/>
          </a:p>
        </p:txBody>
      </p:sp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71500" y="1956643"/>
            <a:ext cx="52006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步驟 3: 修改 Nameservers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2718643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這是最關鍵的一步，將網域的管轄權移交給 Cloudflare。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000125" y="3575893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回到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godaddy.com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的 DNS 管理頁面。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000125" y="4053929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找到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Nameservers (名稱伺服器)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選項。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1000125" y="4531965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選取 "我使用自己的名稱伺服器"。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000125" y="5010001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填入 Cloudflare 提供的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 組伺服器網址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61399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09202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57006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048101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/>
          <p:cNvPicPr preferRelativeResize="0"/>
          <p:nvPr/>
        </p:nvPicPr>
        <p:blipFill rotWithShape="1">
          <a:blip r:embed="rId3">
            <a:alphaModFix/>
          </a:blip>
          <a:srcRect b="21875" l="0" r="0" t="21875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274540"/>
            <a:ext cx="566737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274540"/>
            <a:ext cx="566737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56981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81025" y="3379440"/>
            <a:ext cx="533066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檢查專案狀態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81025" y="3827115"/>
            <a:ext cx="50768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進入 Cloudflare 專案首頁，檢查總覽頁面中的狀態是否顯示為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「使用中」(Active)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。這代表 Cloudflare 已成功接管該網域。</a:t>
            </a:r>
            <a:endParaRPr/>
          </a:p>
        </p:txBody>
      </p:sp>
      <p:pic>
        <p:nvPicPr>
          <p:cNvPr descr="image.png" id="154" name="Google Shape;15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256981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6534150" y="3379440"/>
            <a:ext cx="533066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檢查 DNS 記錄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534150" y="3827115"/>
            <a:ext cx="50768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進入 Cloudflare 的 DNS -&gt; 記錄 頁面。確認是否可以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新增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或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編輯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記錄。如果可以操作，代表轉移成功。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274126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05600" y="274126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285750" y="285750"/>
            <a:ext cx="668083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驗證方式：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GUI 視覺化介面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/>
          <p:cNvPicPr preferRelativeResize="0"/>
          <p:nvPr/>
        </p:nvPicPr>
        <p:blipFill rotWithShape="1">
          <a:blip r:embed="rId3">
            <a:alphaModFix/>
          </a:blip>
          <a:srcRect b="21875" l="0" r="0" t="21875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348680"/>
            <a:ext cx="5524500" cy="45568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348680"/>
            <a:ext cx="5524500" cy="455681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676275" y="1739205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環境準備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76275" y="2444055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如果您使用的是樹莓派 (Raspberry Pi) 或 Ubuntu 系統，預設可能沒有安裝 DNS 查詢工具。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76275" y="3187005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我們需要安裝 dnsutils 套件來使用 nslookup 和 dig 指令。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772275" y="2765077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安裝指令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772275" y="3469927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請在終端機輸入以下指令：</a:t>
            </a:r>
            <a:endParaRPr/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3917602"/>
            <a:ext cx="47434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1777305"/>
            <a:ext cx="2095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72275" y="2803177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285750" y="285750"/>
            <a:ext cx="7110888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驗證方式：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CLI 指令列 (準備)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/>
          <p:cNvPicPr preferRelativeResize="0"/>
          <p:nvPr/>
        </p:nvPicPr>
        <p:blipFill rotWithShape="1">
          <a:blip r:embed="rId3">
            <a:alphaModFix/>
          </a:blip>
          <a:srcRect b="21875" l="0" r="0" t="21875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007840"/>
            <a:ext cx="566737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007840"/>
            <a:ext cx="566737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30311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581025" y="3112740"/>
            <a:ext cx="533066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nslookup 查詢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81025" y="3560415"/>
            <a:ext cx="5076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查詢 Nameserver (NS) 記錄：</a:t>
            </a:r>
            <a:endParaRPr/>
          </a:p>
        </p:txBody>
      </p:sp>
      <p:pic>
        <p:nvPicPr>
          <p:cNvPr descr="image.png" id="186" name="Google Shape;18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084290"/>
            <a:ext cx="5076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81025" y="4722465"/>
            <a:ext cx="5076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若回傳 Cloudflare 的伺服器網址，即代表成功。</a:t>
            </a:r>
            <a:endParaRPr/>
          </a:p>
        </p:txBody>
      </p:sp>
      <p:pic>
        <p:nvPicPr>
          <p:cNvPr descr="image.png" id="188" name="Google Shape;18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30311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6534150" y="3112740"/>
            <a:ext cx="533066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dig 查詢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534150" y="3560415"/>
            <a:ext cx="5076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使用 dig 工具進行更詳細的查詢：</a:t>
            </a:r>
            <a:endParaRPr/>
          </a:p>
        </p:txBody>
      </p:sp>
      <p:pic>
        <p:nvPicPr>
          <p:cNvPr descr="image.png" id="191" name="Google Shape;19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4084290"/>
            <a:ext cx="5076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6534150" y="4722465"/>
            <a:ext cx="5076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檢查 ANSWER SECTION 是否包含 Cloudflare 的伺服器。</a:t>
            </a:r>
            <a:endParaRPr/>
          </a:p>
        </p:txBody>
      </p:sp>
      <p:pic>
        <p:nvPicPr>
          <p:cNvPr descr="image.png" id="193" name="Google Shape;193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2475" y="247456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19887" y="247456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285750" y="285750"/>
            <a:ext cx="7110888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驗證方式：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CLI 指令列 (測試)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